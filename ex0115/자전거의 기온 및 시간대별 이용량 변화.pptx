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86" d="100"/>
          <a:sy n="86" d="100"/>
        </p:scale>
        <p:origin x="162" y="7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4E390C-87DF-46BF-A4F3-44647F7AF4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D6B9F21-4196-420D-AB7D-14BDE6A216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C3EC24-4F4A-4534-963D-444999F4A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5890C-EDC6-48AE-9F46-27DDFFDBD432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1AA3F7-799E-4CD3-BE92-FD2278247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D6F803-249A-4CC2-A977-3EF17A227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9AD89-1F8A-4C5E-A997-91542609C5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4049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8C31C8-3D2F-46D0-8D0A-DD8ACD478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D1EFC3-1A0A-424A-9B66-434278D080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A1791C-07CE-4B18-9556-3638F4D74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5890C-EDC6-48AE-9F46-27DDFFDBD432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BE9813-DEF7-4432-AADC-4B7A41C62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1629CA-BE09-41DA-A93F-DA0AD8216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9AD89-1F8A-4C5E-A997-91542609C5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9261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AC07D0-C0C6-40CE-A0B7-E98384F9D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1DEB481-AB45-4B05-8D4F-F10ACC1A3D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0E871B-E890-4740-A7EF-B4D427584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5890C-EDC6-48AE-9F46-27DDFFDBD432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5472F7-11FD-4AAB-8536-5075DBC12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C2BD9D-9C10-44EA-8E0D-0B7A7B381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9AD89-1F8A-4C5E-A997-91542609C5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8624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62F5A8-47F0-4D84-8534-73491AFA5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AB780E-48E0-4AFC-A0F1-A3980FA82E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15CB6E2-FEAC-4BB1-9CE5-36D926E325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44049FE-A642-4C2C-8C7F-ADEAD6B7B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5890C-EDC6-48AE-9F46-27DDFFDBD432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CBC444A-37D1-4624-8FDD-A1CFC10BA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71DEAEF-B8AA-4D50-9394-0E4F3DFC2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9AD89-1F8A-4C5E-A997-91542609C5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1047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C0869A-3891-4973-AFC2-C571B78CA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3B81B12-C55C-4F82-82B0-30B4EBDDD0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18300B6-A723-4BDC-A6F1-7D5F5FB098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2291AE2-D88A-4426-A891-B0ADE69673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4BBA297-B4D1-41D0-BD0B-B78848993C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A5FD768-86D0-46BE-BE1F-4D69A414F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5890C-EDC6-48AE-9F46-27DDFFDBD432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8454B48-5271-4956-89C4-E380A1C4C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79D73CF-7C38-463B-AB5C-1E8CE4793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9AD89-1F8A-4C5E-A997-91542609C5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9342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170E52-B933-415E-AC5B-13503EF41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B756ADE-1B82-4A2D-8115-F19AF126C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5890C-EDC6-48AE-9F46-27DDFFDBD432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BC66645-D9A8-4939-BD5D-898AAA4D3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B1AA974-738A-48FE-BF28-9BC5DD8BF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9AD89-1F8A-4C5E-A997-91542609C5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9083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3CBE1E2-36B7-4F6B-9086-916904377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5890C-EDC6-48AE-9F46-27DDFFDBD432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D236ED9-52C5-428D-B35B-28C898322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68C95A-BBFB-45CF-A8A7-D96EA90DF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9AD89-1F8A-4C5E-A997-91542609C5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6630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092C53-9D1A-4532-BFA7-568E3ADD9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6E9B6D-F302-4B97-89B1-69D8CEFB67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6F7F315-CEBE-4ADA-A07E-2E033EA37C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37D1075-849D-490D-B063-9A209C702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5890C-EDC6-48AE-9F46-27DDFFDBD432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E6B697C-180F-4D39-8E91-B8D82E9F0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4E38477-B3E8-47D3-91A5-267AEC3AA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9AD89-1F8A-4C5E-A997-91542609C5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9942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98FEEA-DE90-402A-BA75-1B85CDB65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612C6AE-1436-4DE3-A0E7-329C04BC21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D5D6B41-E388-45FA-AF95-D3F706C85F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B716A5-1986-4D7D-B7AA-480FCE760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5890C-EDC6-48AE-9F46-27DDFFDBD432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BFF3478-DFC8-480C-92C2-C02E2874E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6CB7A50-6C7A-4B02-A08B-8CDE0A714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9AD89-1F8A-4C5E-A997-91542609C5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5331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82AA6E-F511-4EF0-AD0F-5C192CED8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DBC4703-CBC5-45D9-B2E8-0D45889FF9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B13EAB-A6A1-47FA-8D4D-7C6BB4978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5890C-EDC6-48AE-9F46-27DDFFDBD432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08A59E-0B05-49CD-9C7E-3F7E6553B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4B0559-C696-437D-BB98-482F62F76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9AD89-1F8A-4C5E-A997-91542609C5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7485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D5AC3B8-E2EF-4B39-8DE0-25198A041B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82DA528-7DEA-458F-BE8C-1099642248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271D53-A1A9-4D79-8E54-37661D5CA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5890C-EDC6-48AE-9F46-27DDFFDBD432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251364-E5C5-4D62-8BB9-BA982C39A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039D6A-FDDF-4D66-BAE2-197B31981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9AD89-1F8A-4C5E-A997-91542609C5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8424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800E65E-9DFC-478E-A0F5-FF2ABAA54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65D3FE5-D0F8-404E-8CA7-E9117F516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9A18B7-A6C6-48D6-8F13-674A7D4798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75890C-EDC6-48AE-9F46-27DDFFDBD432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65724B-345D-4882-AC1A-F055978DF4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BF3495-8B7A-4AE7-AB44-A718C2F828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C9AD89-1F8A-4C5E-A997-91542609C5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8343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85F6D4-249F-4DF8-A06F-4CE15A1F2B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9400" y="1041400"/>
            <a:ext cx="11633200" cy="2387600"/>
          </a:xfrm>
        </p:spPr>
        <p:txBody>
          <a:bodyPr>
            <a:normAutofit/>
          </a:bodyPr>
          <a:lstStyle/>
          <a:p>
            <a:r>
              <a:rPr lang="ko-KR" altLang="ko-KR" sz="4400" b="1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자전거의 기온 및 시간대별 </a:t>
            </a:r>
            <a:r>
              <a:rPr lang="ko-KR" altLang="ko-KR" sz="4400" b="1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이용량</a:t>
            </a:r>
            <a:r>
              <a:rPr lang="ko-KR" altLang="ko-KR" sz="4400" b="1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변화</a:t>
            </a:r>
            <a:br>
              <a:rPr lang="ko-KR" altLang="ko-KR" sz="2400" b="1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</a:br>
            <a:endParaRPr lang="ko-KR" altLang="en-US" sz="72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EC07A43-A881-4D85-9036-9379FD5B7C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60838"/>
            <a:ext cx="9144000" cy="1655762"/>
          </a:xfrm>
        </p:spPr>
        <p:txBody>
          <a:bodyPr/>
          <a:lstStyle/>
          <a:p>
            <a:pPr marL="342900" lvl="0" indent="-342900" algn="just" latinLnBrk="1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"/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자전거는 기온과 강수 등 기상 조건에 민감한 이동 수단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pPr marL="342900" lvl="0" indent="-342900" algn="just" latinLnBrk="1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"/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외부 기상 요인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(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기온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강수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)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과 시간적 요인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(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요일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시간대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)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이 결합했을 때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en-US" sz="1800" kern="100" dirty="0"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자전거이용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수요가 어떻게 변화하는지 정량적으로 분석하여 </a:t>
            </a:r>
            <a:r>
              <a:rPr lang="ko-KR" altLang="en-US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한계 및 유용성 고민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01168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C4CA0B8C-F3B8-456B-8305-3DFED91CBE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814023"/>
            <a:ext cx="12192000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맑은 고딕" panose="020B0503020000020004" pitchFamily="34" charset="-127"/>
                <a:cs typeface="굴림" panose="020B0600000101010101" pitchFamily="34" charset="-127"/>
              </a:rPr>
              <a:t>데이터셋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맑은 고딕" panose="020B0503020000020004" pitchFamily="34" charset="-127"/>
                <a:cs typeface="굴림" panose="020B0600000101010101" pitchFamily="34" charset="-127"/>
              </a:rPr>
              <a:t>: 2025</a:t>
            </a: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맑은 고딕" panose="020B0503020000020004" pitchFamily="34" charset="-127"/>
                <a:cs typeface="굴림" panose="020B0600000101010101" pitchFamily="34" charset="-127"/>
              </a:rPr>
              <a:t>년 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맑은 고딕" panose="020B0503020000020004" pitchFamily="34" charset="-127"/>
                <a:cs typeface="굴림" panose="020B0600000101010101" pitchFamily="34" charset="-127"/>
              </a:rPr>
              <a:t>8</a:t>
            </a: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맑은 고딕" panose="020B0503020000020004" pitchFamily="34" charset="-127"/>
                <a:cs typeface="굴림" panose="020B0600000101010101" pitchFamily="34" charset="-127"/>
              </a:rPr>
              <a:t>월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맑은 고딕" panose="020B0503020000020004" pitchFamily="34" charset="-127"/>
                <a:cs typeface="굴림" panose="020B0600000101010101" pitchFamily="34" charset="-127"/>
              </a:rPr>
              <a:t>~12</a:t>
            </a: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맑은 고딕" panose="020B0503020000020004" pitchFamily="34" charset="-127"/>
                <a:cs typeface="굴림" panose="020B0600000101010101" pitchFamily="34" charset="-127"/>
              </a:rPr>
              <a:t>월 서울시 공공자전거 대여이력 및 기상청 기상 관측 데이터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맑은 고딕" panose="020B0503020000020004" pitchFamily="34" charset="-127"/>
                <a:cs typeface="굴림" panose="020B0600000101010101" pitchFamily="34" charset="-127"/>
              </a:rPr>
              <a:t>(</a:t>
            </a: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맑은 고딕" panose="020B0503020000020004" pitchFamily="34" charset="-127"/>
                <a:cs typeface="굴림" panose="020B0600000101010101" pitchFamily="34" charset="-127"/>
              </a:rPr>
              <a:t>기온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맑은 고딕" panose="020B0503020000020004" pitchFamily="34" charset="-127"/>
                <a:cs typeface="굴림" panose="020B0600000101010101" pitchFamily="34" charset="-127"/>
              </a:rPr>
              <a:t>, </a:t>
            </a: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맑은 고딕" panose="020B0503020000020004" pitchFamily="34" charset="-127"/>
                <a:cs typeface="굴림" panose="020B0600000101010101" pitchFamily="34" charset="-127"/>
              </a:rPr>
              <a:t>강수량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맑은 고딕" panose="020B0503020000020004" pitchFamily="34" charset="-127"/>
                <a:cs typeface="굴림" panose="020B0600000101010101" pitchFamily="34" charset="-127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굴림" panose="020B0600000101010101" pitchFamily="34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ko-KR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맑은 고딕" panose="020B0503020000020004" pitchFamily="34" charset="-127"/>
                <a:cs typeface="굴림" panose="020B0600000101010101" pitchFamily="34" charset="-127"/>
              </a:rPr>
              <a:t>전처리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맑은 고딕" panose="020B0503020000020004" pitchFamily="34" charset="-127"/>
                <a:cs typeface="굴림" panose="020B0600000101010101" pitchFamily="34" charset="-127"/>
              </a:rPr>
              <a:t>: * </a:t>
            </a: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맑은 고딕" panose="020B0503020000020004" pitchFamily="34" charset="-127"/>
                <a:cs typeface="굴림" panose="020B0600000101010101" pitchFamily="34" charset="-127"/>
              </a:rPr>
              <a:t>이용시간 및 거리 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맑은 고딕" panose="020B0503020000020004" pitchFamily="34" charset="-127"/>
                <a:cs typeface="굴림" panose="020B0600000101010101" pitchFamily="34" charset="-127"/>
              </a:rPr>
              <a:t>0</a:t>
            </a: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맑은 고딕" panose="020B0503020000020004" pitchFamily="34" charset="-127"/>
                <a:cs typeface="굴림" panose="020B0600000101010101" pitchFamily="34" charset="-127"/>
              </a:rPr>
              <a:t>인 데이터 제거를 통한 수치 왜곡 방지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맑은 고딕" panose="020B0503020000020004" pitchFamily="34" charset="-127"/>
                <a:cs typeface="굴림" panose="020B0600000101010101" pitchFamily="34" charset="-127"/>
              </a:rPr>
              <a:t>.</a:t>
            </a: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굴림" panose="020B0600000101010101" pitchFamily="34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맑은 고딕" panose="020B0503020000020004" pitchFamily="34" charset="-127"/>
                <a:cs typeface="굴림" panose="020B0600000101010101" pitchFamily="34" charset="-127"/>
              </a:rPr>
              <a:t>기온의 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맑은 고딕" panose="020B0503020000020004" pitchFamily="34" charset="-127"/>
                <a:cs typeface="굴림" panose="020B0600000101010101" pitchFamily="34" charset="-127"/>
              </a:rPr>
              <a:t>5℃ </a:t>
            </a: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맑은 고딕" panose="020B0503020000020004" pitchFamily="34" charset="-127"/>
                <a:cs typeface="굴림" panose="020B0600000101010101" pitchFamily="34" charset="-127"/>
              </a:rPr>
              <a:t>단위 구간화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맑은 고딕" panose="020B0503020000020004" pitchFamily="34" charset="-127"/>
                <a:cs typeface="굴림" panose="020B0600000101010101" pitchFamily="34" charset="-127"/>
              </a:rPr>
              <a:t>(Binning)</a:t>
            </a: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맑은 고딕" panose="020B0503020000020004" pitchFamily="34" charset="-127"/>
                <a:cs typeface="굴림" panose="020B0600000101010101" pitchFamily="34" charset="-127"/>
              </a:rPr>
              <a:t>를 통한 트렌드 가시화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맑은 고딕" panose="020B0503020000020004" pitchFamily="34" charset="-127"/>
                <a:cs typeface="굴림" panose="020B0600000101010101" pitchFamily="34" charset="-127"/>
              </a:rPr>
              <a:t>.</a:t>
            </a: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굴림" panose="020B0600000101010101" pitchFamily="34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맑은 고딕" panose="020B0503020000020004" pitchFamily="34" charset="-127"/>
                <a:cs typeface="굴림" panose="020B0600000101010101" pitchFamily="34" charset="-127"/>
              </a:rPr>
              <a:t>일일 강수량 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맑은 고딕" panose="020B0503020000020004" pitchFamily="34" charset="-127"/>
                <a:cs typeface="굴림" panose="020B0600000101010101" pitchFamily="34" charset="-127"/>
              </a:rPr>
              <a:t>6.5mm </a:t>
            </a: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맑은 고딕" panose="020B0503020000020004" pitchFamily="34" charset="-127"/>
                <a:cs typeface="굴림" panose="020B0600000101010101" pitchFamily="34" charset="-127"/>
              </a:rPr>
              <a:t>기준으로 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맑은 고딕" panose="020B0503020000020004" pitchFamily="34" charset="-127"/>
                <a:cs typeface="굴림" panose="020B0600000101010101" pitchFamily="34" charset="-127"/>
              </a:rPr>
              <a:t>'Strong Rain'</a:t>
            </a: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맑은 고딕" panose="020B0503020000020004" pitchFamily="34" charset="-127"/>
                <a:cs typeface="굴림" panose="020B0600000101010101" pitchFamily="34" charset="-127"/>
              </a:rPr>
              <a:t>과 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맑은 고딕" panose="020B0503020000020004" pitchFamily="34" charset="-127"/>
                <a:cs typeface="굴림" panose="020B0600000101010101" pitchFamily="34" charset="-127"/>
              </a:rPr>
              <a:t>'No/Light Rain' </a:t>
            </a: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맑은 고딕" panose="020B0503020000020004" pitchFamily="34" charset="-127"/>
                <a:cs typeface="굴림" panose="020B0600000101010101" pitchFamily="34" charset="-127"/>
              </a:rPr>
              <a:t>범주화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맑은 고딕" panose="020B0503020000020004" pitchFamily="34" charset="-127"/>
                <a:cs typeface="굴림" panose="020B0600000101010101" pitchFamily="34" charset="-127"/>
              </a:rPr>
              <a:t>.</a:t>
            </a: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굴림" panose="020B0600000101010101" pitchFamily="34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맑은 고딕" panose="020B0503020000020004" pitchFamily="34" charset="-127"/>
                <a:cs typeface="굴림체" panose="020B0609000101010101" pitchFamily="49" charset="-127"/>
              </a:rPr>
              <a:t>many_to_one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맑은 고딕" panose="020B0503020000020004" pitchFamily="34" charset="-127"/>
                <a:cs typeface="굴림" panose="020B0600000101010101" pitchFamily="34" charset="-127"/>
              </a:rPr>
              <a:t> </a:t>
            </a: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맑은 고딕" panose="020B0503020000020004" pitchFamily="34" charset="-127"/>
                <a:cs typeface="굴림" panose="020B0600000101010101" pitchFamily="34" charset="-127"/>
              </a:rPr>
              <a:t>병합 검증을 통해 데이터 무결성 확보</a:t>
            </a: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ea typeface="맑은 고딕" panose="020B0503020000020004" pitchFamily="34" charset="-127"/>
              <a:cs typeface="굴림" panose="020B0600000101010101" pitchFamily="34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endParaRPr kumimoji="0" lang="ko-K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굴림" panose="020B0600000101010101" pitchFamily="34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맑은 고딕" panose="020B0503020000020004" pitchFamily="34" charset="-127"/>
                <a:cs typeface="굴림" panose="020B0600000101010101" pitchFamily="34" charset="-127"/>
              </a:rPr>
              <a:t>데이터 분석 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맑은 고딕" panose="020B0503020000020004" pitchFamily="34" charset="-127"/>
                <a:cs typeface="굴림" panose="020B0600000101010101" pitchFamily="34" charset="-127"/>
              </a:rPr>
              <a:t>: </a:t>
            </a:r>
            <a:r>
              <a:rPr kumimoji="0" lang="ko-KR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맑은 고딕" panose="020B0503020000020004" pitchFamily="34" charset="-127"/>
                <a:cs typeface="굴림" panose="020B0600000101010101" pitchFamily="34" charset="-127"/>
              </a:rPr>
              <a:t>온도별</a:t>
            </a: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맑은 고딕" panose="020B0503020000020004" pitchFamily="34" charset="-127"/>
                <a:cs typeface="굴림" panose="020B0600000101010101" pitchFamily="34" charset="-127"/>
              </a:rPr>
              <a:t> 집계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맑은 고딕" panose="020B0503020000020004" pitchFamily="34" charset="-127"/>
                <a:cs typeface="굴림" panose="020B0600000101010101" pitchFamily="34" charset="-127"/>
              </a:rPr>
              <a:t>, </a:t>
            </a: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맑은 고딕" panose="020B0503020000020004" pitchFamily="34" charset="-127"/>
                <a:cs typeface="굴림" panose="020B0600000101010101" pitchFamily="34" charset="-127"/>
              </a:rPr>
              <a:t>평일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맑은 고딕" panose="020B0503020000020004" pitchFamily="34" charset="-127"/>
                <a:cs typeface="굴림" panose="020B0600000101010101" pitchFamily="34" charset="-127"/>
              </a:rPr>
              <a:t>/</a:t>
            </a: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맑은 고딕" panose="020B0503020000020004" pitchFamily="34" charset="-127"/>
                <a:cs typeface="굴림" panose="020B0600000101010101" pitchFamily="34" charset="-127"/>
              </a:rPr>
              <a:t>주말 그룹화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맑은 고딕" panose="020B0503020000020004" pitchFamily="34" charset="-127"/>
                <a:cs typeface="굴림" panose="020B0600000101010101" pitchFamily="34" charset="-127"/>
              </a:rPr>
              <a:t>, </a:t>
            </a: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맑은 고딕" panose="020B0503020000020004" pitchFamily="34" charset="-127"/>
                <a:cs typeface="굴림" panose="020B0600000101010101" pitchFamily="34" charset="-127"/>
              </a:rPr>
              <a:t>강수여부에 따른 </a:t>
            </a:r>
            <a:r>
              <a:rPr kumimoji="0" lang="ko-KR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맑은 고딕" panose="020B0503020000020004" pitchFamily="34" charset="-127"/>
                <a:cs typeface="굴림" panose="020B0600000101010101" pitchFamily="34" charset="-127"/>
              </a:rPr>
              <a:t>변화등</a:t>
            </a: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ea typeface="맑은 고딕" panose="020B0503020000020004" pitchFamily="34" charset="-127"/>
              <a:cs typeface="굴림" panose="020B0600000101010101" pitchFamily="34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ko-K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굴림" panose="020B0600000101010101" pitchFamily="34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맑은 고딕" panose="020B0503020000020004" pitchFamily="34" charset="-127"/>
                <a:cs typeface="굴림" panose="020B0600000101010101" pitchFamily="34" charset="-127"/>
              </a:rPr>
              <a:t>시각화 자료 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맑은 고딕" panose="020B0503020000020004" pitchFamily="34" charset="-127"/>
                <a:cs typeface="굴림" panose="020B0600000101010101" pitchFamily="34" charset="-127"/>
              </a:rPr>
              <a:t>: </a:t>
            </a: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맑은 고딕" panose="020B0503020000020004" pitchFamily="34" charset="-127"/>
                <a:cs typeface="굴림" panose="020B0600000101010101" pitchFamily="34" charset="-127"/>
              </a:rPr>
              <a:t>강수 여부에 따른 시간대별 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맑은 고딕" panose="020B0503020000020004" pitchFamily="34" charset="-127"/>
                <a:cs typeface="굴림" panose="020B0600000101010101" pitchFamily="34" charset="-127"/>
              </a:rPr>
              <a:t>Line Plot, </a:t>
            </a: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맑은 고딕" panose="020B0503020000020004" pitchFamily="34" charset="-127"/>
                <a:cs typeface="굴림" panose="020B0600000101010101" pitchFamily="34" charset="-127"/>
              </a:rPr>
              <a:t>기온 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맑은 고딕" panose="020B0503020000020004" pitchFamily="34" charset="-127"/>
                <a:cs typeface="굴림" panose="020B0600000101010101" pitchFamily="34" charset="-127"/>
              </a:rPr>
              <a:t>Heatmap, </a:t>
            </a: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맑은 고딕" panose="020B0503020000020004" pitchFamily="34" charset="-127"/>
                <a:cs typeface="굴림" panose="020B0600000101010101" pitchFamily="34" charset="-127"/>
              </a:rPr>
              <a:t>기온 구간별 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맑은 고딕" panose="020B0503020000020004" pitchFamily="34" charset="-127"/>
                <a:cs typeface="굴림" panose="020B0600000101010101" pitchFamily="34" charset="-127"/>
              </a:rPr>
              <a:t>Line Plot</a:t>
            </a: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맑은 고딕" panose="020B0503020000020004" pitchFamily="34" charset="-127"/>
                <a:cs typeface="굴림" panose="020B0600000101010101" pitchFamily="34" charset="-127"/>
              </a:rPr>
              <a:t>등</a:t>
            </a: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ea typeface="맑은 고딕" panose="020B0503020000020004" pitchFamily="34" charset="-127"/>
              <a:cs typeface="굴림" panose="020B0600000101010101" pitchFamily="34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ko-K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굴림" panose="020B0600000101010101" pitchFamily="34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맑은 고딕" panose="020B0503020000020004" pitchFamily="34" charset="-127"/>
                <a:cs typeface="굴림" panose="020B0600000101010101" pitchFamily="34" charset="-127"/>
              </a:rPr>
              <a:t>한계점 및 추가 분석 방향</a:t>
            </a: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ea typeface="맑은 고딕" panose="020B0503020000020004" pitchFamily="34" charset="-127"/>
              <a:cs typeface="굴림" panose="020B0600000101010101" pitchFamily="34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ko-K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굴림" panose="020B0600000101010101" pitchFamily="34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ko-KR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맑은 고딕" panose="020B0503020000020004" pitchFamily="34" charset="-127"/>
                <a:cs typeface="굴림" panose="020B0600000101010101" pitchFamily="34" charset="-127"/>
              </a:rPr>
              <a:t>변수 확장성</a:t>
            </a:r>
            <a:r>
              <a:rPr kumimoji="0" lang="en-US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맑은 고딕" panose="020B0503020000020004" pitchFamily="34" charset="-127"/>
                <a:cs typeface="굴림" panose="020B0600000101010101" pitchFamily="34" charset="-127"/>
              </a:rPr>
              <a:t>: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맑은 고딕" panose="020B0503020000020004" pitchFamily="34" charset="-127"/>
                <a:cs typeface="굴림" panose="020B0600000101010101" pitchFamily="34" charset="-127"/>
              </a:rPr>
              <a:t> </a:t>
            </a: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맑은 고딕" panose="020B0503020000020004" pitchFamily="34" charset="-127"/>
                <a:cs typeface="굴림" panose="020B0600000101010101" pitchFamily="34" charset="-127"/>
              </a:rPr>
              <a:t>자전거의 외부요인 취약점만 분석되었다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맑은 고딕" panose="020B0503020000020004" pitchFamily="34" charset="-127"/>
                <a:cs typeface="굴림" panose="020B0600000101010101" pitchFamily="34" charset="-127"/>
              </a:rPr>
              <a:t>,</a:t>
            </a: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굴림" panose="020B0600000101010101" pitchFamily="34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맑은 고딕" panose="020B0503020000020004" pitchFamily="34" charset="-127"/>
                <a:cs typeface="굴림" panose="020B0600000101010101" pitchFamily="34" charset="-127"/>
              </a:rPr>
              <a:t>대여소 주변 인프라 등의 지형정보가 있다면 시간대별로 이용자가 집중되는 </a:t>
            </a:r>
            <a:r>
              <a:rPr kumimoji="0" lang="ko-KR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맑은 고딕" panose="020B0503020000020004" pitchFamily="34" charset="-127"/>
                <a:cs typeface="굴림" panose="020B0600000101010101" pitchFamily="34" charset="-127"/>
              </a:rPr>
              <a:t>지역등을</a:t>
            </a: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맑은 고딕" panose="020B0503020000020004" pitchFamily="34" charset="-127"/>
                <a:cs typeface="굴림" panose="020B0600000101010101" pitchFamily="34" charset="-127"/>
              </a:rPr>
              <a:t> 함께 비교할 수 있었을 것이다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맑은 고딕" panose="020B0503020000020004" pitchFamily="34" charset="-127"/>
                <a:cs typeface="굴림" panose="020B0600000101010101" pitchFamily="34" charset="-127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굴림" panose="020B0600000101010101" pitchFamily="34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ko-KR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맑은 고딕" panose="020B0503020000020004" pitchFamily="34" charset="-127"/>
                <a:cs typeface="굴림" panose="020B0600000101010101" pitchFamily="34" charset="-127"/>
              </a:rPr>
              <a:t>데이터 편향</a:t>
            </a:r>
            <a:r>
              <a:rPr kumimoji="0" lang="en-US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맑은 고딕" panose="020B0503020000020004" pitchFamily="34" charset="-127"/>
                <a:cs typeface="굴림" panose="020B0600000101010101" pitchFamily="34" charset="-127"/>
              </a:rPr>
              <a:t>: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맑은 고딕" panose="020B0503020000020004" pitchFamily="34" charset="-127"/>
                <a:cs typeface="굴림" panose="020B0600000101010101" pitchFamily="34" charset="-127"/>
              </a:rPr>
              <a:t>  </a:t>
            </a: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맑은 고딕" panose="020B0503020000020004" pitchFamily="34" charset="-127"/>
                <a:cs typeface="굴림" panose="020B0600000101010101" pitchFamily="34" charset="-127"/>
              </a:rPr>
              <a:t>기상 데이터가 매우 </a:t>
            </a:r>
            <a:r>
              <a:rPr kumimoji="0" lang="ko-KR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맑은 고딕" panose="020B0503020000020004" pitchFamily="34" charset="-127"/>
                <a:cs typeface="굴림" panose="020B0600000101010101" pitchFamily="34" charset="-127"/>
              </a:rPr>
              <a:t>제한적이였다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맑은 고딕" panose="020B0503020000020004" pitchFamily="34" charset="-127"/>
                <a:cs typeface="굴림" panose="020B0600000101010101" pitchFamily="34" charset="-127"/>
              </a:rPr>
              <a:t>,</a:t>
            </a: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굴림" panose="020B0600000101010101" pitchFamily="34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맑은 고딕" panose="020B0503020000020004" pitchFamily="34" charset="-127"/>
                <a:cs typeface="굴림" panose="020B0600000101010101" pitchFamily="34" charset="-127"/>
              </a:rPr>
              <a:t>분석 기간 내 주말 강수일 샘플 수 부족으로 인해 주말 강수 영향도가 실제보다 왜곡되었을 가능성이 있음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맑은 고딕" panose="020B0503020000020004" pitchFamily="34" charset="-127"/>
                <a:cs typeface="굴림" panose="020B0600000101010101" pitchFamily="34" charset="-127"/>
              </a:rPr>
              <a:t>.</a:t>
            </a: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77369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BECAD328-7DD6-490C-A45C-96D27157A2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181" y="889687"/>
            <a:ext cx="5206971" cy="4991900"/>
          </a:xfr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1C2FCAB-4BB0-4191-A1BE-82ABE39089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5850" y="889687"/>
            <a:ext cx="5206971" cy="5569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168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D9D8D43C-5138-45CA-9F1B-114A3ED939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937" y="511968"/>
            <a:ext cx="11668125" cy="5834063"/>
          </a:xfrm>
        </p:spPr>
      </p:pic>
    </p:spTree>
    <p:extLst>
      <p:ext uri="{BB962C8B-B14F-4D97-AF65-F5344CB8AC3E}">
        <p14:creationId xmlns:p14="http://schemas.microsoft.com/office/powerpoint/2010/main" val="1919774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60D6F1-FDA1-4E36-9673-D0BC09DB15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13347"/>
            <a:ext cx="12192000" cy="5855370"/>
          </a:xfrm>
        </p:spPr>
        <p:txBody>
          <a:bodyPr>
            <a:normAutofit fontScale="92500" lnSpcReduction="10000"/>
          </a:bodyPr>
          <a:lstStyle/>
          <a:p>
            <a:pPr marL="0" indent="0" algn="just" latinLnBrk="1">
              <a:lnSpc>
                <a:spcPct val="107000"/>
              </a:lnSpc>
              <a:spcAft>
                <a:spcPts val="800"/>
              </a:spcAft>
              <a:buNone/>
            </a:pPr>
            <a:r>
              <a:rPr lang="ko-KR" altLang="ko-KR" sz="43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시간대별 </a:t>
            </a:r>
            <a:r>
              <a:rPr lang="ko-KR" altLang="ko-KR" sz="43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대여량</a:t>
            </a:r>
            <a:r>
              <a:rPr lang="ko-KR" altLang="ko-KR" sz="43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ko-KR" altLang="ko-KR" sz="43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확인시</a:t>
            </a:r>
            <a:endParaRPr lang="ko-KR" altLang="ko-KR" sz="43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Aft>
                <a:spcPts val="800"/>
              </a:spcAft>
            </a:pPr>
            <a:endParaRPr lang="en-US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Aft>
                <a:spcPts val="800"/>
              </a:spcAft>
            </a:pPr>
            <a:r>
              <a:rPr lang="ko-KR" altLang="ko-KR" sz="17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평일 출퇴근 시간대의 압도적 이용자 수와</a:t>
            </a:r>
            <a:r>
              <a:rPr lang="en-US" altLang="ko-KR" sz="17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ko-KR" sz="17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강수시에도 확인되는 </a:t>
            </a:r>
            <a:r>
              <a:rPr lang="ko-KR" altLang="ko-KR" sz="17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이용량</a:t>
            </a:r>
            <a:r>
              <a:rPr lang="ko-KR" altLang="ko-KR" sz="17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증가는 비가 와도 타야만 하는 출퇴근 콘크리트 수요가 존재함을 </a:t>
            </a:r>
            <a:r>
              <a:rPr lang="ko-KR" altLang="ko-KR" sz="17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알수</a:t>
            </a:r>
            <a:r>
              <a:rPr lang="ko-KR" altLang="ko-KR" sz="17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있습니다</a:t>
            </a:r>
            <a:r>
              <a:rPr lang="en-US" altLang="ko-KR" sz="17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.</a:t>
            </a:r>
            <a:endParaRPr lang="ko-KR" altLang="ko-KR" sz="17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spcAft>
                <a:spcPts val="800"/>
              </a:spcAft>
            </a:pPr>
            <a:r>
              <a:rPr lang="ko-KR" altLang="ko-KR" sz="17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퇴근시에는 출근과 다르게 지각이라는 요소가 </a:t>
            </a:r>
            <a:r>
              <a:rPr lang="ko-KR" altLang="ko-KR" sz="17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없다보니</a:t>
            </a:r>
            <a:r>
              <a:rPr lang="ko-KR" altLang="ko-KR" sz="17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추가적으로 자전거 </a:t>
            </a:r>
            <a:r>
              <a:rPr lang="ko-KR" altLang="ko-KR" sz="17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이용량이</a:t>
            </a:r>
            <a:r>
              <a:rPr lang="ko-KR" altLang="ko-KR" sz="17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증가함을 </a:t>
            </a:r>
            <a:r>
              <a:rPr lang="ko-KR" altLang="ko-KR" sz="17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알수</a:t>
            </a:r>
            <a:r>
              <a:rPr lang="ko-KR" altLang="ko-KR" sz="17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있습니다</a:t>
            </a:r>
            <a:r>
              <a:rPr lang="en-US" altLang="ko-KR" sz="17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.</a:t>
            </a:r>
            <a:endParaRPr lang="ko-KR" altLang="ko-KR" sz="17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Aft>
                <a:spcPts val="800"/>
              </a:spcAft>
            </a:pPr>
            <a:r>
              <a:rPr lang="ko-KR" altLang="ko-KR" sz="17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특히 평일 출근시간대 강수시의 </a:t>
            </a:r>
            <a:r>
              <a:rPr lang="ko-KR" altLang="ko-KR" sz="17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평균대여량이</a:t>
            </a:r>
            <a:r>
              <a:rPr lang="ko-KR" altLang="ko-KR" sz="17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주말 </a:t>
            </a:r>
            <a:r>
              <a:rPr lang="ko-KR" altLang="ko-KR" sz="17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맑은날의</a:t>
            </a:r>
            <a:r>
              <a:rPr lang="ko-KR" altLang="ko-KR" sz="17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피크 시간대보다 </a:t>
            </a:r>
            <a:r>
              <a:rPr lang="ko-KR" altLang="ko-KR" sz="17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많은점을</a:t>
            </a:r>
            <a:r>
              <a:rPr lang="ko-KR" altLang="ko-KR" sz="17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확인 할 수 있어 평일 이용자들에게 자전거는 날씨보다</a:t>
            </a:r>
            <a:r>
              <a:rPr lang="en-US" altLang="ko-KR" sz="17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'</a:t>
            </a:r>
            <a:r>
              <a:rPr lang="ko-KR" altLang="ko-KR" sz="17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정시 출근</a:t>
            </a:r>
            <a:r>
              <a:rPr lang="en-US" altLang="ko-KR" sz="17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'</a:t>
            </a:r>
            <a:r>
              <a:rPr lang="ko-KR" altLang="ko-KR" sz="17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이라는 목적이 우선되는 필수 </a:t>
            </a:r>
            <a:r>
              <a:rPr lang="ko-KR" altLang="ko-KR" sz="17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교통수단인점을</a:t>
            </a:r>
            <a:r>
              <a:rPr lang="ko-KR" altLang="ko-KR" sz="17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엿볼 수 있습니다</a:t>
            </a:r>
            <a:r>
              <a:rPr lang="en-US" altLang="ko-KR" sz="17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.</a:t>
            </a:r>
            <a:endParaRPr lang="ko-KR" altLang="ko-KR" sz="17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pPr marL="0" indent="0" algn="just" latinLnBrk="1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altLang="ko-KR" sz="17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 </a:t>
            </a:r>
            <a:endParaRPr lang="ko-KR" altLang="ko-KR" sz="17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pPr algn="just" latinLnBrk="1">
              <a:lnSpc>
                <a:spcPct val="100000"/>
              </a:lnSpc>
              <a:spcAft>
                <a:spcPts val="800"/>
              </a:spcAft>
            </a:pPr>
            <a:r>
              <a:rPr lang="ko-KR" altLang="ko-KR" sz="17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다만 비가오는 날에는 </a:t>
            </a:r>
            <a:r>
              <a:rPr lang="ko-KR" altLang="ko-KR" sz="17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이용량</a:t>
            </a:r>
            <a:r>
              <a:rPr lang="ko-KR" altLang="ko-KR" sz="17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감소폭을 보았을 때 대체 교통수단을 찾는 경향이 매우 </a:t>
            </a:r>
            <a:r>
              <a:rPr lang="ko-KR" altLang="ko-KR" sz="17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높은점이</a:t>
            </a:r>
            <a:r>
              <a:rPr lang="ko-KR" altLang="ko-KR" sz="17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포인트입니다</a:t>
            </a:r>
            <a:r>
              <a:rPr lang="en-US" altLang="ko-KR" sz="17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. </a:t>
            </a:r>
          </a:p>
          <a:p>
            <a:pPr marL="0" indent="0" algn="just" latinLnBrk="1">
              <a:lnSpc>
                <a:spcPct val="100000"/>
              </a:lnSpc>
              <a:spcAft>
                <a:spcPts val="800"/>
              </a:spcAft>
              <a:buNone/>
            </a:pPr>
            <a:endParaRPr lang="ko-KR" altLang="ko-KR" sz="17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pPr algn="just" latinLnBrk="1">
              <a:lnSpc>
                <a:spcPct val="100000"/>
              </a:lnSpc>
              <a:spcAft>
                <a:spcPts val="800"/>
              </a:spcAft>
            </a:pPr>
            <a:r>
              <a:rPr lang="ko-KR" altLang="ko-KR" sz="17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이에 비해 주말은 </a:t>
            </a:r>
            <a:r>
              <a:rPr lang="en-US" altLang="ko-KR" sz="17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“</a:t>
            </a:r>
            <a:r>
              <a:rPr lang="ko-KR" altLang="ko-KR" sz="17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비에 굴하지 않는</a:t>
            </a:r>
            <a:r>
              <a:rPr lang="en-US" altLang="ko-KR" sz="17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" </a:t>
            </a:r>
            <a:r>
              <a:rPr lang="ko-KR" altLang="ko-KR" sz="17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여가 활동의 지속성을 볼 수 있습니다</a:t>
            </a:r>
            <a:r>
              <a:rPr lang="en-US" altLang="ko-KR" sz="17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.</a:t>
            </a:r>
            <a:endParaRPr lang="ko-KR" altLang="ko-KR" sz="17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pPr algn="just" latinLnBrk="1">
              <a:lnSpc>
                <a:spcPct val="100000"/>
              </a:lnSpc>
              <a:spcAft>
                <a:spcPts val="800"/>
              </a:spcAft>
            </a:pPr>
            <a:r>
              <a:rPr lang="ko-KR" altLang="ko-KR" sz="17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오후 내내</a:t>
            </a:r>
            <a:r>
              <a:rPr lang="en-US" altLang="ko-KR" sz="17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6,000</a:t>
            </a:r>
            <a:r>
              <a:rPr lang="ko-KR" altLang="ko-KR" sz="17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건 안팎의 높은 수치를 유지하며</a:t>
            </a:r>
            <a:r>
              <a:rPr lang="en-US" altLang="ko-KR" sz="17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, 16</a:t>
            </a:r>
            <a:r>
              <a:rPr lang="ko-KR" altLang="ko-KR" sz="17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시를 보면 맑은 날 </a:t>
            </a:r>
            <a:r>
              <a:rPr lang="en-US" altLang="ko-KR" sz="17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6,645</a:t>
            </a:r>
            <a:r>
              <a:rPr lang="ko-KR" altLang="ko-KR" sz="17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건</a:t>
            </a:r>
            <a:r>
              <a:rPr lang="en-US" altLang="ko-KR" sz="17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ko-KR" sz="17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비 오는 날 </a:t>
            </a:r>
            <a:r>
              <a:rPr lang="en-US" altLang="ko-KR" sz="17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6,225</a:t>
            </a:r>
            <a:r>
              <a:rPr lang="ko-KR" altLang="ko-KR" sz="17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건으로 차이가 거의 </a:t>
            </a:r>
            <a:r>
              <a:rPr lang="ko-KR" altLang="ko-KR" sz="17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없는점으로</a:t>
            </a:r>
            <a:r>
              <a:rPr lang="ko-KR" altLang="ko-KR" sz="17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보아 비가 와도 취소하기 어려운 약속</a:t>
            </a:r>
            <a:r>
              <a:rPr lang="en-US" altLang="ko-KR" sz="17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/</a:t>
            </a:r>
            <a:r>
              <a:rPr lang="ko-KR" altLang="ko-KR" sz="17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레저 활동 중일 가능성이 크고</a:t>
            </a:r>
            <a:r>
              <a:rPr lang="en-US" altLang="ko-KR" sz="17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ko-KR" sz="17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평일처럼 수단을 즉시 바꾸기보다 </a:t>
            </a:r>
            <a:r>
              <a:rPr lang="en-US" altLang="ko-KR" sz="17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"</a:t>
            </a:r>
            <a:r>
              <a:rPr lang="ko-KR" altLang="ko-KR" sz="17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비가 와도 타던 것은 마저 탄다</a:t>
            </a:r>
            <a:r>
              <a:rPr lang="en-US" altLang="ko-KR" sz="17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"</a:t>
            </a:r>
            <a:r>
              <a:rPr lang="ko-KR" altLang="ko-KR" sz="17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는 경향이 뚜렷합니다</a:t>
            </a:r>
            <a:r>
              <a:rPr lang="en-US" altLang="ko-KR" sz="17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.</a:t>
            </a:r>
            <a:endParaRPr lang="ko-KR" altLang="ko-KR" sz="17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09531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5E87C749-C70E-447B-82D7-06AFFFA43B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989"/>
            <a:ext cx="12208041" cy="6104021"/>
          </a:xfrm>
        </p:spPr>
      </p:pic>
    </p:spTree>
    <p:extLst>
      <p:ext uri="{BB962C8B-B14F-4D97-AF65-F5344CB8AC3E}">
        <p14:creationId xmlns:p14="http://schemas.microsoft.com/office/powerpoint/2010/main" val="1141412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F2AF89A9-AA4B-4B4C-A309-2C9A5DDCB7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13347"/>
            <a:ext cx="12192000" cy="5855370"/>
          </a:xfrm>
        </p:spPr>
        <p:txBody>
          <a:bodyPr>
            <a:normAutofit/>
          </a:bodyPr>
          <a:lstStyle/>
          <a:p>
            <a:pPr marL="0" indent="0" algn="just" latinLnBrk="1">
              <a:lnSpc>
                <a:spcPct val="107000"/>
              </a:lnSpc>
              <a:spcAft>
                <a:spcPts val="800"/>
              </a:spcAft>
              <a:buNone/>
            </a:pPr>
            <a:r>
              <a:rPr lang="ko-KR" altLang="en-US" sz="4000" kern="100" dirty="0" err="1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기온별</a:t>
            </a:r>
            <a:r>
              <a:rPr lang="ko-KR" altLang="en-US" sz="4000" kern="100" dirty="0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 평균 </a:t>
            </a:r>
            <a:r>
              <a:rPr lang="ko-KR" altLang="en-US" sz="4000" kern="100" dirty="0" err="1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이용량</a:t>
            </a:r>
            <a:r>
              <a:rPr lang="ko-KR" altLang="en-US" sz="4000" kern="100" dirty="0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ko-KR" altLang="en-US" sz="4000" kern="100" dirty="0" err="1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확인시</a:t>
            </a:r>
            <a:endParaRPr lang="en-US" altLang="ko-KR" sz="1800" kern="100" dirty="0">
              <a:effectLst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r>
              <a:rPr lang="ko-KR" altLang="en-US" sz="1600" dirty="0">
                <a:effectLst/>
              </a:rPr>
              <a:t>기온 구간별 요약 통계</a:t>
            </a:r>
          </a:p>
          <a:p>
            <a:pPr marL="0" indent="0">
              <a:buNone/>
            </a:pPr>
            <a:endParaRPr lang="ko-KR" altLang="en-US" sz="1600" dirty="0">
              <a:effectLst/>
            </a:endParaRPr>
          </a:p>
          <a:p>
            <a:pPr marL="0" indent="0">
              <a:buNone/>
            </a:pPr>
            <a:r>
              <a:rPr lang="ko-KR" altLang="en-US" sz="1600" b="1" dirty="0"/>
              <a:t>기상 조건에 따른 높은 취약성 </a:t>
            </a:r>
            <a:endParaRPr lang="en-US" altLang="ko-KR" sz="1600" b="1" dirty="0"/>
          </a:p>
          <a:p>
            <a:r>
              <a:rPr lang="ko-KR" altLang="en-US" sz="1600" dirty="0"/>
              <a:t>자전거는 자동차와 달리 외부 기온에 신체가 직접 노출되는 이동 수단입니다</a:t>
            </a:r>
            <a:r>
              <a:rPr lang="en-US" altLang="ko-KR" sz="1600" dirty="0"/>
              <a:t>. </a:t>
            </a:r>
            <a:r>
              <a:rPr lang="ko-KR" altLang="en-US" sz="1600" dirty="0"/>
              <a:t>공조 장치를 통한 능동적인 온도 조절이 불가능하기 때문에</a:t>
            </a:r>
            <a:r>
              <a:rPr lang="en-US" altLang="ko-KR" sz="1600" dirty="0"/>
              <a:t>, </a:t>
            </a:r>
            <a:r>
              <a:rPr lang="ko-KR" altLang="en-US" sz="1600" dirty="0"/>
              <a:t>사용자는 기온의 변화에 따라 이용 여부를 결정하는 </a:t>
            </a:r>
            <a:r>
              <a:rPr lang="en-US" altLang="ko-KR" sz="1600" dirty="0"/>
              <a:t>'</a:t>
            </a:r>
            <a:r>
              <a:rPr lang="ko-KR" altLang="en-US" sz="1600" dirty="0"/>
              <a:t>기온 민감형 이용자</a:t>
            </a:r>
            <a:r>
              <a:rPr lang="en-US" altLang="ko-KR" sz="1600" dirty="0"/>
              <a:t>'</a:t>
            </a:r>
            <a:r>
              <a:rPr lang="ko-KR" altLang="en-US" sz="1600" dirty="0"/>
              <a:t>가 될 수밖에 없습니다</a:t>
            </a:r>
            <a:r>
              <a:rPr lang="en-US" altLang="ko-KR" sz="1600" dirty="0"/>
              <a:t>.</a:t>
            </a:r>
          </a:p>
          <a:p>
            <a:endParaRPr lang="en-US" altLang="ko-KR" sz="1600" dirty="0"/>
          </a:p>
          <a:p>
            <a:pPr marL="0" indent="0">
              <a:buNone/>
            </a:pPr>
            <a:r>
              <a:rPr lang="en-US" altLang="ko-KR" sz="1600" b="1" dirty="0"/>
              <a:t> 24</a:t>
            </a:r>
            <a:r>
              <a:rPr lang="ko-KR" altLang="en-US" sz="1600" b="1" dirty="0"/>
              <a:t>시간 전체 평균을 통한 수요 응집도 확인</a:t>
            </a:r>
            <a:endParaRPr lang="ko-KR" alt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600" dirty="0"/>
              <a:t>기온 구간별 통계는 특정 피크 타임이 아닌 </a:t>
            </a:r>
            <a:r>
              <a:rPr lang="en-US" altLang="ko-KR" sz="1600" dirty="0"/>
              <a:t>24</a:t>
            </a:r>
            <a:r>
              <a:rPr lang="ko-KR" altLang="en-US" sz="1600" dirty="0"/>
              <a:t>시간 전체의 평균치를 보여줍니다</a:t>
            </a:r>
            <a:r>
              <a:rPr lang="en-US" altLang="ko-KR" sz="16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600" dirty="0"/>
              <a:t>15~20℃ </a:t>
            </a:r>
            <a:r>
              <a:rPr lang="ko-KR" altLang="en-US" sz="1600" dirty="0"/>
              <a:t>구간에서 평균 약 </a:t>
            </a:r>
            <a:r>
              <a:rPr lang="en-US" altLang="ko-KR" sz="1600" b="1" dirty="0"/>
              <a:t>6,000</a:t>
            </a:r>
            <a:r>
              <a:rPr lang="ko-KR" altLang="en-US" sz="1600" b="1" dirty="0"/>
              <a:t>건</a:t>
            </a:r>
            <a:r>
              <a:rPr lang="ko-KR" altLang="en-US" sz="1600" dirty="0"/>
              <a:t>의 </a:t>
            </a:r>
            <a:r>
              <a:rPr lang="ko-KR" altLang="en-US" sz="1600" dirty="0" err="1"/>
              <a:t>대여량이</a:t>
            </a:r>
            <a:r>
              <a:rPr lang="ko-KR" altLang="en-US" sz="1600" dirty="0"/>
              <a:t> 관측된 것은</a:t>
            </a:r>
            <a:r>
              <a:rPr lang="en-US" altLang="ko-KR" sz="1600" dirty="0"/>
              <a:t>, </a:t>
            </a:r>
            <a:r>
              <a:rPr lang="ko-KR" altLang="en-US" sz="1600" dirty="0"/>
              <a:t>출퇴근 시간의 고정 </a:t>
            </a:r>
            <a:r>
              <a:rPr lang="ko-KR" altLang="en-US" sz="1600" dirty="0" err="1"/>
              <a:t>수요뿐만</a:t>
            </a:r>
            <a:r>
              <a:rPr lang="ko-KR" altLang="en-US" sz="1600" dirty="0"/>
              <a:t> 아니라 </a:t>
            </a:r>
            <a:r>
              <a:rPr lang="ko-KR" altLang="en-US" sz="1600" b="1" dirty="0" err="1"/>
              <a:t>비출퇴근</a:t>
            </a:r>
            <a:r>
              <a:rPr lang="ko-KR" altLang="en-US" sz="1600" b="1" dirty="0"/>
              <a:t> 시간대의 여가</a:t>
            </a:r>
            <a:r>
              <a:rPr lang="en-US" altLang="ko-KR" sz="1600" b="1" dirty="0"/>
              <a:t>·</a:t>
            </a:r>
            <a:r>
              <a:rPr lang="ko-KR" altLang="en-US" sz="1600" b="1" dirty="0"/>
              <a:t>단거리 이동 수요까지 해당 기온에서 가장 활발하게 발생</a:t>
            </a:r>
            <a:r>
              <a:rPr lang="ko-KR" altLang="en-US" sz="1600" dirty="0"/>
              <a:t>하고 있음을 입증합니다</a:t>
            </a:r>
            <a:r>
              <a:rPr lang="en-US" altLang="ko-KR" sz="1600" dirty="0"/>
              <a:t>.</a:t>
            </a:r>
          </a:p>
          <a:p>
            <a:pPr marL="0" indent="0">
              <a:buNone/>
            </a:pPr>
            <a:endParaRPr lang="en-US" altLang="ko-KR" sz="1600" dirty="0"/>
          </a:p>
          <a:p>
            <a:pPr marL="0" indent="0">
              <a:buNone/>
            </a:pPr>
            <a:r>
              <a:rPr lang="ko-KR" altLang="en-US" sz="1600" b="1" dirty="0"/>
              <a:t>자전거 이용 최적 온도</a:t>
            </a:r>
            <a:r>
              <a:rPr lang="en-US" altLang="ko-KR" sz="1600" b="1" dirty="0"/>
              <a:t>: 15~20℃</a:t>
            </a:r>
            <a:endParaRPr lang="ko-KR" altLang="en-US" sz="1600" dirty="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기온이 </a:t>
            </a:r>
            <a:r>
              <a:rPr lang="en-US" altLang="ko-KR" sz="1600" dirty="0"/>
              <a:t>10℃ </a:t>
            </a:r>
            <a:r>
              <a:rPr lang="ko-KR" altLang="en-US" sz="1600" dirty="0"/>
              <a:t>이하로 떨어지거나 </a:t>
            </a:r>
            <a:r>
              <a:rPr lang="en-US" altLang="ko-KR" sz="1600" dirty="0"/>
              <a:t>25℃</a:t>
            </a:r>
            <a:r>
              <a:rPr lang="ko-KR" altLang="en-US" sz="1600" dirty="0"/>
              <a:t>를 넘어갈 경우 평균 </a:t>
            </a:r>
            <a:r>
              <a:rPr lang="ko-KR" altLang="en-US" sz="1600" dirty="0" err="1"/>
              <a:t>이용량은</a:t>
            </a:r>
            <a:r>
              <a:rPr lang="ko-KR" altLang="en-US" sz="1600" dirty="0"/>
              <a:t> 눈에 띄게 감소합니다</a:t>
            </a:r>
            <a:r>
              <a:rPr lang="en-US" altLang="ko-KR" sz="16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600" dirty="0"/>
              <a:t>이는 사용자가 체감하는 </a:t>
            </a:r>
            <a:r>
              <a:rPr lang="en-US" altLang="ko-KR" sz="1600" dirty="0"/>
              <a:t>'</a:t>
            </a:r>
            <a:r>
              <a:rPr lang="ko-KR" altLang="en-US" sz="1600" dirty="0"/>
              <a:t>쾌적함</a:t>
            </a:r>
            <a:r>
              <a:rPr lang="en-US" altLang="ko-KR" sz="1600" dirty="0"/>
              <a:t>'</a:t>
            </a:r>
            <a:r>
              <a:rPr lang="ko-KR" altLang="en-US" sz="1600" dirty="0"/>
              <a:t>의 마지노선이 </a:t>
            </a:r>
            <a:r>
              <a:rPr lang="en-US" altLang="ko-KR" sz="1600" dirty="0"/>
              <a:t>15~20℃ </a:t>
            </a:r>
            <a:r>
              <a:rPr lang="ko-KR" altLang="en-US" sz="1600" dirty="0"/>
              <a:t>사이에 형성되어 있음을 의미하며</a:t>
            </a:r>
            <a:r>
              <a:rPr lang="en-US" altLang="ko-KR" sz="1600" dirty="0"/>
              <a:t>, </a:t>
            </a:r>
            <a:r>
              <a:rPr lang="ko-KR" altLang="en-US" sz="1600" dirty="0"/>
              <a:t>이 구간이 공공자전거 운영 효율이 극대화되는 최적구간 임을 알 수 있습니다</a:t>
            </a:r>
            <a:r>
              <a:rPr lang="en-US" altLang="ko-KR" sz="1600" dirty="0"/>
              <a:t>.</a:t>
            </a:r>
          </a:p>
          <a:p>
            <a:pPr marL="0" indent="0">
              <a:buNone/>
            </a:pPr>
            <a:endParaRPr lang="en-US" altLang="ko-KR" sz="12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94685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9C23C574-E5A7-4225-8D7D-5E487AA9D3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0999"/>
            <a:ext cx="12192000" cy="6096001"/>
          </a:xfrm>
        </p:spPr>
      </p:pic>
    </p:spTree>
    <p:extLst>
      <p:ext uri="{BB962C8B-B14F-4D97-AF65-F5344CB8AC3E}">
        <p14:creationId xmlns:p14="http://schemas.microsoft.com/office/powerpoint/2010/main" val="3345078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292CE236-4426-4B3B-BF53-9013BA15CB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13347"/>
            <a:ext cx="12192000" cy="5855370"/>
          </a:xfrm>
        </p:spPr>
        <p:txBody>
          <a:bodyPr>
            <a:normAutofit/>
          </a:bodyPr>
          <a:lstStyle/>
          <a:p>
            <a:pPr marL="0" indent="0" algn="just" latinLnBrk="1">
              <a:lnSpc>
                <a:spcPct val="110000"/>
              </a:lnSpc>
              <a:spcAft>
                <a:spcPts val="800"/>
              </a:spcAft>
              <a:buNone/>
            </a:pPr>
            <a:r>
              <a:rPr lang="ko-KR" altLang="en-US" sz="4000" kern="100" dirty="0" err="1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기온별</a:t>
            </a:r>
            <a:r>
              <a:rPr lang="ko-KR" altLang="en-US" sz="4000" kern="100" dirty="0">
                <a:ea typeface="맑은 고딕" panose="020B0503020000020004" pitchFamily="34" charset="-127"/>
                <a:cs typeface="Times New Roman" panose="02020603050405020304" pitchFamily="18" charset="0"/>
              </a:rPr>
              <a:t> 및 강수 조건 </a:t>
            </a:r>
            <a:r>
              <a:rPr lang="ko-KR" altLang="en-US" sz="4000" kern="100" dirty="0" err="1">
                <a:ea typeface="맑은 고딕" panose="020B0503020000020004" pitchFamily="34" charset="-127"/>
                <a:cs typeface="Times New Roman" panose="02020603050405020304" pitchFamily="18" charset="0"/>
              </a:rPr>
              <a:t>결합시</a:t>
            </a:r>
            <a:r>
              <a:rPr lang="ko-KR" altLang="en-US" sz="4000" kern="100" dirty="0">
                <a:ea typeface="맑은 고딕" panose="020B0503020000020004" pitchFamily="34" charset="-127"/>
                <a:cs typeface="Times New Roman" panose="02020603050405020304" pitchFamily="18" charset="0"/>
              </a:rPr>
              <a:t> 변화</a:t>
            </a:r>
            <a:endParaRPr lang="en-US" altLang="ko-KR" sz="4000" kern="100" dirty="0">
              <a:effectLst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600" dirty="0"/>
              <a:t>강수 현상은 대기 중의 수증기가 응결하여 </a:t>
            </a:r>
            <a:r>
              <a:rPr lang="ko-KR" altLang="en-US" sz="1600" b="1" dirty="0">
                <a:effectLst/>
              </a:rPr>
              <a:t>비</a:t>
            </a:r>
            <a:r>
              <a:rPr lang="en-US" altLang="ko-KR" sz="1600" b="1" dirty="0">
                <a:effectLst/>
              </a:rPr>
              <a:t>, </a:t>
            </a:r>
            <a:r>
              <a:rPr lang="ko-KR" altLang="en-US" sz="1600" b="1" dirty="0">
                <a:effectLst/>
              </a:rPr>
              <a:t>눈</a:t>
            </a:r>
            <a:r>
              <a:rPr lang="en-US" altLang="ko-KR" sz="1600" b="1" dirty="0">
                <a:effectLst/>
              </a:rPr>
              <a:t>, </a:t>
            </a:r>
            <a:r>
              <a:rPr lang="ko-KR" altLang="en-US" sz="1600" b="1" dirty="0">
                <a:effectLst/>
              </a:rPr>
              <a:t>우박 등 다양한 형태</a:t>
            </a:r>
            <a:r>
              <a:rPr lang="ko-KR" altLang="en-US" sz="1600" dirty="0"/>
              <a:t>로 지표면에 떨어지는 기상 현상</a:t>
            </a:r>
            <a:endParaRPr lang="en-US" altLang="ko-KR" sz="1600" dirty="0"/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600" dirty="0">
                <a:effectLst/>
              </a:rPr>
              <a:t>이중 </a:t>
            </a:r>
            <a:r>
              <a:rPr lang="ko-KR" altLang="en-US" sz="1600" dirty="0" err="1">
                <a:effectLst/>
              </a:rPr>
              <a:t>시간강</a:t>
            </a:r>
            <a:r>
              <a:rPr lang="ko-KR" altLang="en-US" sz="1600" dirty="0">
                <a:effectLst/>
              </a:rPr>
              <a:t> 강수량 </a:t>
            </a:r>
            <a:r>
              <a:rPr lang="en-US" altLang="ko-KR" sz="1600" dirty="0">
                <a:effectLst/>
              </a:rPr>
              <a:t>6.5</a:t>
            </a:r>
            <a:r>
              <a:rPr lang="en-US" altLang="ko-KR" sz="1600" dirty="0"/>
              <a:t>mm </a:t>
            </a:r>
            <a:r>
              <a:rPr lang="ko-KR" altLang="en-US" sz="1600" dirty="0"/>
              <a:t>이상일 경우만 결합하였다</a:t>
            </a:r>
            <a:r>
              <a:rPr lang="en-US" altLang="ko-KR" sz="1600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dirty="0"/>
              <a:t>6.5mm</a:t>
            </a:r>
            <a:r>
              <a:rPr lang="ko-KR" altLang="en-US" sz="1600" dirty="0"/>
              <a:t>는 기상청 </a:t>
            </a:r>
            <a:r>
              <a:rPr lang="ko-KR" altLang="en-US" sz="1600" dirty="0" err="1"/>
              <a:t>확인시</a:t>
            </a:r>
            <a:r>
              <a:rPr lang="ko-KR" altLang="en-US" sz="1600" dirty="0"/>
              <a:t> 물웅덩이가 </a:t>
            </a:r>
            <a:r>
              <a:rPr lang="ko-KR" altLang="en-US" sz="1600" dirty="0" err="1"/>
              <a:t>고이는등</a:t>
            </a:r>
            <a:r>
              <a:rPr lang="ko-KR" altLang="en-US" sz="1600" dirty="0"/>
              <a:t> 유의미하게 비가 </a:t>
            </a:r>
            <a:r>
              <a:rPr lang="ko-KR" altLang="en-US" sz="1600" dirty="0" err="1"/>
              <a:t>내린걸로</a:t>
            </a:r>
            <a:r>
              <a:rPr lang="ko-KR" altLang="en-US" sz="1600" dirty="0"/>
              <a:t> 볼 수 있는 강수량이다</a:t>
            </a:r>
            <a:r>
              <a:rPr lang="en-US" altLang="ko-KR" sz="1600" dirty="0"/>
              <a:t>.</a:t>
            </a:r>
          </a:p>
          <a:p>
            <a:pPr marL="0" indent="0">
              <a:buNone/>
            </a:pPr>
            <a:endParaRPr lang="en-US" altLang="ko-KR" sz="1600" dirty="0"/>
          </a:p>
          <a:p>
            <a:pPr marL="0" indent="0">
              <a:buNone/>
            </a:pPr>
            <a:r>
              <a:rPr lang="ko-KR" altLang="en-US" sz="1600" b="1" dirty="0" err="1"/>
              <a:t>이용량의</a:t>
            </a:r>
            <a:r>
              <a:rPr lang="ko-KR" altLang="en-US" sz="1600" b="1" dirty="0"/>
              <a:t> 정점과 </a:t>
            </a:r>
            <a:r>
              <a:rPr lang="en-US" altLang="ko-KR" sz="1600" b="1" dirty="0"/>
              <a:t>'</a:t>
            </a:r>
            <a:r>
              <a:rPr lang="ko-KR" altLang="en-US" sz="1600" b="1" dirty="0"/>
              <a:t>강수 충격</a:t>
            </a:r>
            <a:r>
              <a:rPr lang="en-US" altLang="ko-KR" sz="1600" b="1" dirty="0"/>
              <a:t>' (15~20℃ </a:t>
            </a:r>
            <a:r>
              <a:rPr lang="ko-KR" altLang="en-US" sz="1600" b="1" dirty="0"/>
              <a:t>구간</a:t>
            </a:r>
            <a:r>
              <a:rPr lang="en-US" altLang="ko-KR" sz="1600" b="1" dirty="0"/>
              <a:t>)</a:t>
            </a:r>
          </a:p>
          <a:p>
            <a:r>
              <a:rPr lang="ko-KR" altLang="en-US" sz="1600" dirty="0"/>
              <a:t>맑은 날 기준 </a:t>
            </a:r>
            <a:r>
              <a:rPr lang="en-US" altLang="ko-KR" sz="1600" dirty="0"/>
              <a:t>15℃(5,998</a:t>
            </a:r>
            <a:r>
              <a:rPr lang="ko-KR" altLang="en-US" sz="1600" dirty="0"/>
              <a:t>건</a:t>
            </a:r>
            <a:r>
              <a:rPr lang="en-US" altLang="ko-KR" sz="1600" dirty="0"/>
              <a:t>)</a:t>
            </a:r>
            <a:r>
              <a:rPr lang="ko-KR" altLang="en-US" sz="1600" dirty="0"/>
              <a:t>와 </a:t>
            </a:r>
            <a:r>
              <a:rPr lang="en-US" altLang="ko-KR" sz="1600" dirty="0"/>
              <a:t>20℃(6,021</a:t>
            </a:r>
            <a:r>
              <a:rPr lang="ko-KR" altLang="en-US" sz="1600" dirty="0"/>
              <a:t>건</a:t>
            </a:r>
            <a:r>
              <a:rPr lang="en-US" altLang="ko-KR" sz="1600" dirty="0"/>
              <a:t>)</a:t>
            </a:r>
            <a:r>
              <a:rPr lang="ko-KR" altLang="en-US" sz="1600" dirty="0"/>
              <a:t>에서 </a:t>
            </a:r>
            <a:r>
              <a:rPr lang="ko-KR" altLang="en-US" sz="1600" dirty="0" err="1"/>
              <a:t>대여량이</a:t>
            </a:r>
            <a:r>
              <a:rPr lang="ko-KR" altLang="en-US" sz="1600" dirty="0"/>
              <a:t> 가장 높습니다</a:t>
            </a:r>
            <a:r>
              <a:rPr lang="en-US" altLang="ko-KR" sz="1600" dirty="0"/>
              <a:t>.</a:t>
            </a:r>
          </a:p>
          <a:p>
            <a:r>
              <a:rPr lang="ko-KR" altLang="en-US" sz="1600" dirty="0"/>
              <a:t>특히 </a:t>
            </a:r>
            <a:r>
              <a:rPr lang="en-US" altLang="ko-KR" sz="1600" b="1" dirty="0"/>
              <a:t>15.0℃ </a:t>
            </a:r>
            <a:r>
              <a:rPr lang="ko-KR" altLang="en-US" sz="1600" b="1" dirty="0"/>
              <a:t>구간</a:t>
            </a:r>
            <a:r>
              <a:rPr lang="ko-KR" altLang="en-US" sz="1600" dirty="0"/>
              <a:t>의 감소율</a:t>
            </a:r>
            <a:r>
              <a:rPr lang="en-US" altLang="ko-KR" sz="1600" dirty="0"/>
              <a:t>(</a:t>
            </a:r>
            <a:r>
              <a:rPr lang="en-US" altLang="ko-KR" sz="1600" b="1" dirty="0"/>
              <a:t>65.3%</a:t>
            </a:r>
            <a:r>
              <a:rPr lang="en-US" altLang="ko-KR" sz="1600" dirty="0"/>
              <a:t>)</a:t>
            </a:r>
            <a:r>
              <a:rPr lang="ko-KR" altLang="en-US" sz="1600" dirty="0"/>
              <a:t>이 전체 기온 중 가장 압도적입니다</a:t>
            </a:r>
            <a:r>
              <a:rPr lang="en-US" altLang="ko-KR" sz="1600" dirty="0"/>
              <a:t>. </a:t>
            </a:r>
            <a:r>
              <a:rPr lang="ko-KR" altLang="en-US" sz="1600" dirty="0"/>
              <a:t>이는 야외 활동에 가장 적합한 기온임에도 불구하고</a:t>
            </a:r>
            <a:r>
              <a:rPr lang="en-US" altLang="ko-KR" sz="1600" dirty="0"/>
              <a:t>, </a:t>
            </a:r>
            <a:r>
              <a:rPr lang="ko-KR" altLang="en-US" sz="1600" dirty="0"/>
              <a:t>비가 오는 순간 사용자들이 가장 민감하게 이용을 포기하거나 다른 수단으로 전환함을 보여줍니다</a:t>
            </a:r>
            <a:r>
              <a:rPr lang="en-US" altLang="ko-KR" sz="1600" dirty="0"/>
              <a:t>.</a:t>
            </a:r>
          </a:p>
          <a:p>
            <a:r>
              <a:rPr lang="en-US" altLang="ko-KR" sz="1600" dirty="0"/>
              <a:t>15~20℃</a:t>
            </a:r>
            <a:r>
              <a:rPr lang="ko-KR" altLang="en-US" sz="1600" dirty="0"/>
              <a:t>는 </a:t>
            </a:r>
            <a:r>
              <a:rPr lang="en-US" altLang="ko-KR" sz="1600" dirty="0"/>
              <a:t>'</a:t>
            </a:r>
            <a:r>
              <a:rPr lang="ko-KR" altLang="en-US" sz="1600" dirty="0"/>
              <a:t>최대 수요 구간</a:t>
            </a:r>
            <a:r>
              <a:rPr lang="en-US" altLang="ko-KR" sz="1600" dirty="0"/>
              <a:t>'</a:t>
            </a:r>
            <a:r>
              <a:rPr lang="ko-KR" altLang="en-US" sz="1600" dirty="0"/>
              <a:t>인 동시에</a:t>
            </a:r>
            <a:r>
              <a:rPr lang="en-US" altLang="ko-KR" sz="1600" dirty="0"/>
              <a:t>, </a:t>
            </a:r>
            <a:r>
              <a:rPr lang="ko-KR" altLang="en-US" sz="1600" dirty="0"/>
              <a:t>기상 악화 시 </a:t>
            </a:r>
            <a:r>
              <a:rPr lang="en-US" altLang="ko-KR" sz="1600" dirty="0"/>
              <a:t>'</a:t>
            </a:r>
            <a:r>
              <a:rPr lang="ko-KR" altLang="en-US" sz="1600" dirty="0"/>
              <a:t>최대 이탈 구간</a:t>
            </a:r>
            <a:r>
              <a:rPr lang="en-US" altLang="ko-KR" sz="1600" dirty="0"/>
              <a:t>'</a:t>
            </a:r>
            <a:r>
              <a:rPr lang="ko-KR" altLang="en-US" sz="1600" dirty="0"/>
              <a:t>입니다</a:t>
            </a:r>
            <a:r>
              <a:rPr lang="en-US" altLang="ko-KR" sz="1600" dirty="0"/>
              <a:t>.</a:t>
            </a:r>
          </a:p>
          <a:p>
            <a:endParaRPr lang="en-US" altLang="ko-KR" sz="1600" dirty="0"/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600" b="1" dirty="0"/>
              <a:t>출퇴근이라는 </a:t>
            </a:r>
            <a:r>
              <a:rPr lang="en-US" altLang="ko-KR" sz="1600" b="1" dirty="0"/>
              <a:t>'</a:t>
            </a:r>
            <a:r>
              <a:rPr lang="ko-KR" altLang="en-US" sz="1600" b="1" dirty="0"/>
              <a:t>고정 스케줄</a:t>
            </a:r>
            <a:r>
              <a:rPr lang="en-US" altLang="ko-KR" sz="1600" b="1" dirty="0"/>
              <a:t>’</a:t>
            </a:r>
            <a:r>
              <a:rPr lang="ko-KR" altLang="en-US" sz="1600" b="1" dirty="0"/>
              <a:t>의 힘</a:t>
            </a:r>
            <a:endParaRPr lang="en-US" altLang="ko-KR" sz="1600" b="1" dirty="0"/>
          </a:p>
          <a:p>
            <a:pPr>
              <a:lnSpc>
                <a:spcPct val="100000"/>
              </a:lnSpc>
            </a:pPr>
            <a:r>
              <a:rPr lang="ko-KR" altLang="en-US" sz="1600" dirty="0"/>
              <a:t>비가 올 때의 수치를 보면 기온 구간에 상관없이 일정 수준</a:t>
            </a:r>
            <a:r>
              <a:rPr lang="en-US" altLang="ko-KR" sz="1600" dirty="0"/>
              <a:t>(</a:t>
            </a:r>
            <a:r>
              <a:rPr lang="ko-KR" altLang="en-US" sz="1600" dirty="0"/>
              <a:t>약 </a:t>
            </a:r>
            <a:r>
              <a:rPr lang="en-US" altLang="ko-KR" sz="1600" dirty="0"/>
              <a:t>2,000~3,000</a:t>
            </a:r>
            <a:r>
              <a:rPr lang="ko-KR" altLang="en-US" sz="1600" dirty="0"/>
              <a:t>건대</a:t>
            </a:r>
            <a:r>
              <a:rPr lang="en-US" altLang="ko-KR" sz="1600" dirty="0"/>
              <a:t>)</a:t>
            </a:r>
            <a:r>
              <a:rPr lang="ko-KR" altLang="en-US" sz="1600" dirty="0"/>
              <a:t>을 유지하는 경향이 있습니다</a:t>
            </a:r>
            <a:r>
              <a:rPr lang="en-US" altLang="ko-KR" sz="1600" dirty="0"/>
              <a:t>.</a:t>
            </a:r>
          </a:p>
          <a:p>
            <a:pPr>
              <a:lnSpc>
                <a:spcPct val="100000"/>
              </a:lnSpc>
            </a:pPr>
            <a:r>
              <a:rPr lang="ko-KR" altLang="en-US" sz="1600" dirty="0"/>
              <a:t>이는 기온이 영하든 영상 </a:t>
            </a:r>
            <a:r>
              <a:rPr lang="en-US" altLang="ko-KR" sz="1600" dirty="0"/>
              <a:t>20</a:t>
            </a:r>
            <a:r>
              <a:rPr lang="ko-KR" altLang="en-US" sz="1600" dirty="0" err="1"/>
              <a:t>도든</a:t>
            </a:r>
            <a:r>
              <a:rPr lang="ko-KR" altLang="en-US" sz="1600" dirty="0"/>
              <a:t> </a:t>
            </a:r>
            <a:r>
              <a:rPr lang="en-US" altLang="ko-KR" sz="1600" dirty="0"/>
              <a:t>"</a:t>
            </a:r>
            <a:r>
              <a:rPr lang="ko-KR" altLang="en-US" sz="1600" dirty="0"/>
              <a:t>출퇴근 시간은 정해져 있다</a:t>
            </a:r>
            <a:r>
              <a:rPr lang="en-US" altLang="ko-KR" sz="1600" dirty="0"/>
              <a:t>"</a:t>
            </a:r>
            <a:r>
              <a:rPr lang="ko-KR" altLang="en-US" sz="1600" dirty="0"/>
              <a:t>는 사실 때문으로 보이며</a:t>
            </a:r>
            <a:r>
              <a:rPr lang="en-US" altLang="ko-KR" sz="1600" dirty="0"/>
              <a:t>, '</a:t>
            </a:r>
            <a:r>
              <a:rPr lang="ko-KR" altLang="en-US" sz="1600" dirty="0"/>
              <a:t>콘크리트 수요</a:t>
            </a:r>
            <a:r>
              <a:rPr lang="en-US" altLang="ko-KR" sz="1600" dirty="0"/>
              <a:t>'</a:t>
            </a:r>
            <a:r>
              <a:rPr lang="ko-KR" altLang="en-US" sz="1600" dirty="0"/>
              <a:t>가 기온이라는 변수보다 상위에 있음을 보여줍니다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760221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E3F9EC3C-50A5-4B12-8D29-8D0527B6E8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5010"/>
            <a:ext cx="12175959" cy="6087980"/>
          </a:xfrm>
        </p:spPr>
      </p:pic>
    </p:spTree>
    <p:extLst>
      <p:ext uri="{BB962C8B-B14F-4D97-AF65-F5344CB8AC3E}">
        <p14:creationId xmlns:p14="http://schemas.microsoft.com/office/powerpoint/2010/main" val="12968602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2D9742D6-7E78-4E11-BDC0-55766D3654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13347"/>
            <a:ext cx="12192000" cy="5855370"/>
          </a:xfrm>
        </p:spPr>
        <p:txBody>
          <a:bodyPr>
            <a:normAutofit/>
          </a:bodyPr>
          <a:lstStyle/>
          <a:p>
            <a:pPr marL="0" indent="0" algn="just" latinLnBrk="1">
              <a:lnSpc>
                <a:spcPct val="107000"/>
              </a:lnSpc>
              <a:spcAft>
                <a:spcPts val="800"/>
              </a:spcAft>
              <a:buNone/>
            </a:pPr>
            <a:r>
              <a:rPr lang="ko-KR" altLang="en-US" sz="4000" dirty="0"/>
              <a:t>구간별 강수 민감도 상세 해석</a:t>
            </a:r>
            <a:endParaRPr lang="en-US" altLang="ko-KR" sz="4000" kern="100" dirty="0"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pPr marL="0" indent="0" algn="just" latinLnBrk="1">
              <a:lnSpc>
                <a:spcPct val="107000"/>
              </a:lnSpc>
              <a:spcAft>
                <a:spcPts val="800"/>
              </a:spcAft>
              <a:buNone/>
            </a:pPr>
            <a:endParaRPr lang="en-US" altLang="ko-KR" sz="1600" dirty="0"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평일 출퇴근(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Weekday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Commute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): 기민한 대체 수단 선택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감소율이 세 그룹 중 가장 높습니다. 이는 평일 출퇴근 이용자들이 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"비가 오면 즉시 지하철이나 버스로 수단을 바꾸는"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매우 합리적이고 기민한 패턴을 보임을 의미합니다.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하지만 비 오는 날의 5,035건조차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Other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그룹의 맑은 날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이용량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(3,890건)보다 월등히 높습니다. 즉, 절반 가까이 줄어들어도 여전히 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압도적인 고정 수요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가 존재합니다.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주말 피크(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Weekend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Peak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): 비를 뚫고 가는 여가/약속 수요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감소율이 10% 미만으로 매우 낮습니다. 주말 오후에 자전거를 타는 사람들은 비가 오더라도 원래 계획을 잘 취소하지 않거나, 이미 밖으로 나온 상태에서 비를 맞아도 끝까지 이용을 마치는 경향이 큽니다.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주말 레저 수요는 기상 변화라는 외부 요인보다 "개인의 스케줄과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약속"이라는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내부 요인에 훨씬 더 강력하게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지배받는다는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것을 증명합니다.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기타 시간대(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Other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): 일상적 이동의 위축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맑은 날 3,891건 → 비 오는 날 2,504건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출퇴근이나 주말 피크가 아닌 시간대의 이용입니다. 급하지 않은 일상적 용무나 단거리 이동이 많으므로, 비가 오면 이용을 적당히 포기하는 '보통' 수준의 민감도를 보입니다.</a:t>
            </a:r>
            <a:endParaRPr lang="en-US" altLang="ko-KR" sz="16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555320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49423A0E-D3AF-4546-99F3-05CD8253BC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0999"/>
            <a:ext cx="12192000" cy="6096001"/>
          </a:xfrm>
        </p:spPr>
      </p:pic>
    </p:spTree>
    <p:extLst>
      <p:ext uri="{BB962C8B-B14F-4D97-AF65-F5344CB8AC3E}">
        <p14:creationId xmlns:p14="http://schemas.microsoft.com/office/powerpoint/2010/main" val="8209010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D31672A1-E7EF-4798-818E-56BCF3A758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13347"/>
            <a:ext cx="12192000" cy="5855370"/>
          </a:xfrm>
        </p:spPr>
        <p:txBody>
          <a:bodyPr>
            <a:normAutofit lnSpcReduction="10000"/>
          </a:bodyPr>
          <a:lstStyle/>
          <a:p>
            <a:pPr marL="0" indent="0" algn="just" latinLnBrk="1">
              <a:lnSpc>
                <a:spcPct val="107000"/>
              </a:lnSpc>
              <a:spcAft>
                <a:spcPts val="800"/>
              </a:spcAft>
              <a:buNone/>
            </a:pPr>
            <a:r>
              <a:rPr lang="ko-KR" altLang="en-US" sz="4000" dirty="0"/>
              <a:t>요일 유형별 강수 일수 분석 및 정리</a:t>
            </a:r>
            <a:endParaRPr lang="ko-KR" altLang="en-US" sz="4000" dirty="0">
              <a:effectLst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600" b="1" dirty="0"/>
              <a:t>표본의 불균형성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분석 기간</a:t>
            </a:r>
            <a:r>
              <a:rPr lang="en-US" altLang="ko-KR" sz="1600" dirty="0"/>
              <a:t>(153</a:t>
            </a:r>
            <a:r>
              <a:rPr lang="ko-KR" altLang="en-US" sz="1600" dirty="0"/>
              <a:t>일</a:t>
            </a:r>
            <a:r>
              <a:rPr lang="en-US" altLang="ko-KR" sz="1600" dirty="0"/>
              <a:t>) </a:t>
            </a:r>
            <a:r>
              <a:rPr lang="ko-KR" altLang="en-US" sz="1600" dirty="0"/>
              <a:t>중 평일 강수일</a:t>
            </a:r>
            <a:r>
              <a:rPr lang="en-US" altLang="ko-KR" sz="1600" dirty="0"/>
              <a:t>(21</a:t>
            </a:r>
            <a:r>
              <a:rPr lang="ko-KR" altLang="en-US" sz="1600" dirty="0"/>
              <a:t>일</a:t>
            </a:r>
            <a:r>
              <a:rPr lang="en-US" altLang="ko-KR" sz="1600" dirty="0"/>
              <a:t>)</a:t>
            </a:r>
            <a:r>
              <a:rPr lang="ko-KR" altLang="en-US" sz="1600" dirty="0"/>
              <a:t>에 비해 주말 강수일</a:t>
            </a:r>
            <a:r>
              <a:rPr lang="en-US" altLang="ko-KR" sz="1600" dirty="0"/>
              <a:t>(9</a:t>
            </a:r>
            <a:r>
              <a:rPr lang="ko-KR" altLang="en-US" sz="1600" dirty="0"/>
              <a:t>일</a:t>
            </a:r>
            <a:r>
              <a:rPr lang="en-US" altLang="ko-KR" sz="1600" dirty="0"/>
              <a:t>)</a:t>
            </a:r>
            <a:r>
              <a:rPr lang="ko-KR" altLang="en-US" sz="1600" dirty="0"/>
              <a:t>은 절반에도 못 미치는 적은 숫자입니다</a:t>
            </a:r>
            <a:r>
              <a:rPr lang="en-US" altLang="ko-KR" sz="1600" dirty="0"/>
              <a:t>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주말 강수 시 </a:t>
            </a:r>
            <a:r>
              <a:rPr lang="ko-KR" altLang="en-US" sz="1600" dirty="0" err="1"/>
              <a:t>이용량</a:t>
            </a:r>
            <a:r>
              <a:rPr lang="ko-KR" altLang="en-US" sz="1600" dirty="0"/>
              <a:t> 변화가 적게 나타난 결과</a:t>
            </a:r>
            <a:r>
              <a:rPr lang="en-US" altLang="ko-KR" sz="1600" dirty="0"/>
              <a:t>(</a:t>
            </a:r>
            <a:r>
              <a:rPr lang="ko-KR" altLang="en-US" sz="1600" dirty="0"/>
              <a:t>감소율 </a:t>
            </a:r>
            <a:r>
              <a:rPr lang="en-US" altLang="ko-KR" sz="1600" dirty="0"/>
              <a:t>9.2%)</a:t>
            </a:r>
            <a:r>
              <a:rPr lang="ko-KR" altLang="en-US" sz="1600" dirty="0"/>
              <a:t>는</a:t>
            </a:r>
            <a:r>
              <a:rPr lang="en-US" altLang="ko-KR" sz="1600" dirty="0"/>
              <a:t>, </a:t>
            </a:r>
            <a:r>
              <a:rPr lang="ko-KR" altLang="en-US" sz="1600" dirty="0"/>
              <a:t>단 </a:t>
            </a:r>
            <a:r>
              <a:rPr lang="en-US" altLang="ko-KR" sz="1600" b="1" dirty="0"/>
              <a:t>9</a:t>
            </a:r>
            <a:r>
              <a:rPr lang="ko-KR" altLang="en-US" sz="1600" b="1" dirty="0"/>
              <a:t>일</a:t>
            </a:r>
            <a:r>
              <a:rPr lang="ko-KR" altLang="en-US" sz="1600" dirty="0"/>
              <a:t>이라는 적은 표본에서 나온 수치이다 보니</a:t>
            </a:r>
            <a:r>
              <a:rPr lang="en-US" altLang="ko-KR" sz="1600" dirty="0"/>
              <a:t>, </a:t>
            </a:r>
            <a:r>
              <a:rPr lang="ko-KR" altLang="en-US" sz="1600" dirty="0"/>
              <a:t>해당 </a:t>
            </a:r>
            <a:r>
              <a:rPr lang="en-US" altLang="ko-KR" sz="1600" dirty="0"/>
              <a:t>9</a:t>
            </a:r>
            <a:r>
              <a:rPr lang="ko-KR" altLang="en-US" sz="1600" dirty="0"/>
              <a:t>일의 기상 상황이나 특수 이벤트가 반영된 결과일 가능성도 배제할 수 없습니다</a:t>
            </a:r>
            <a:r>
              <a:rPr lang="en-US" altLang="ko-KR" sz="1600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sz="1600" dirty="0"/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600" b="1" dirty="0"/>
              <a:t>상대적인 평일 데이터의 높은 신뢰도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평일은 맑은 날</a:t>
            </a:r>
            <a:r>
              <a:rPr lang="en-US" altLang="ko-KR" sz="1600" dirty="0"/>
              <a:t>(88</a:t>
            </a:r>
            <a:r>
              <a:rPr lang="ko-KR" altLang="en-US" sz="1600" dirty="0"/>
              <a:t>일</a:t>
            </a:r>
            <a:r>
              <a:rPr lang="en-US" altLang="ko-KR" sz="1600" dirty="0"/>
              <a:t>)</a:t>
            </a:r>
            <a:r>
              <a:rPr lang="ko-KR" altLang="en-US" sz="1600" dirty="0"/>
              <a:t>과 비 오는 날</a:t>
            </a:r>
            <a:r>
              <a:rPr lang="en-US" altLang="ko-KR" sz="1600" dirty="0"/>
              <a:t>(21</a:t>
            </a:r>
            <a:r>
              <a:rPr lang="ko-KR" altLang="en-US" sz="1600" dirty="0"/>
              <a:t>일</a:t>
            </a:r>
            <a:r>
              <a:rPr lang="en-US" altLang="ko-KR" sz="1600" dirty="0"/>
              <a:t>) </a:t>
            </a:r>
            <a:r>
              <a:rPr lang="ko-KR" altLang="en-US" sz="1600" dirty="0"/>
              <a:t>모두 충분한 표본이 확보되었습니다</a:t>
            </a:r>
            <a:r>
              <a:rPr lang="en-US" altLang="ko-KR" sz="1600" dirty="0"/>
              <a:t>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평일 출퇴근 시간대의 높은 감소율</a:t>
            </a:r>
            <a:r>
              <a:rPr lang="en-US" altLang="ko-KR" sz="1600" dirty="0"/>
              <a:t>(46.4%)</a:t>
            </a:r>
            <a:r>
              <a:rPr lang="ko-KR" altLang="en-US" sz="1600" dirty="0"/>
              <a:t>은 약 </a:t>
            </a:r>
            <a:r>
              <a:rPr lang="en-US" altLang="ko-KR" sz="1600" dirty="0"/>
              <a:t>4</a:t>
            </a:r>
            <a:r>
              <a:rPr lang="ko-KR" altLang="en-US" sz="1600" dirty="0"/>
              <a:t>개월간의 </a:t>
            </a:r>
            <a:r>
              <a:rPr lang="en-US" altLang="ko-KR" sz="1600" dirty="0"/>
              <a:t>21</a:t>
            </a:r>
            <a:r>
              <a:rPr lang="ko-KR" altLang="en-US" sz="1600" dirty="0"/>
              <a:t>일의 강수일를 통해 검증된 </a:t>
            </a:r>
            <a:r>
              <a:rPr lang="ko-KR" altLang="en-US" sz="1600" b="1" dirty="0"/>
              <a:t>신뢰도 높은 패턴</a:t>
            </a:r>
            <a:r>
              <a:rPr lang="ko-KR" altLang="en-US" sz="1600" dirty="0"/>
              <a:t>임을 확인 할 수 있습니다</a:t>
            </a:r>
            <a:r>
              <a:rPr lang="en-US" altLang="ko-KR" sz="1600" dirty="0"/>
              <a:t>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다만 주말의 경우 적은 강수 표본</a:t>
            </a:r>
            <a:r>
              <a:rPr lang="en-US" altLang="ko-KR" sz="1600" dirty="0"/>
              <a:t>(9</a:t>
            </a:r>
            <a:r>
              <a:rPr lang="ko-KR" altLang="en-US" sz="1600" dirty="0"/>
              <a:t>일</a:t>
            </a:r>
            <a:r>
              <a:rPr lang="en-US" altLang="ko-KR" sz="1600" dirty="0"/>
              <a:t>)</a:t>
            </a:r>
            <a:r>
              <a:rPr lang="ko-KR" altLang="en-US" sz="1600" dirty="0"/>
              <a:t>으로 인해 해석에 주의가 요구됩니다</a:t>
            </a:r>
            <a:r>
              <a:rPr lang="en-US" altLang="ko-KR" sz="1600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sz="1600" dirty="0"/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600" b="1" dirty="0"/>
              <a:t>전체 분석 기간의 구성</a:t>
            </a:r>
            <a:endParaRPr lang="en-US" altLang="ko-KR" sz="1600" b="1" dirty="0">
              <a:effectLst/>
            </a:endParaRPr>
          </a:p>
          <a:p>
            <a:pPr>
              <a:lnSpc>
                <a:spcPct val="100000"/>
              </a:lnSpc>
            </a:pPr>
            <a:r>
              <a:rPr lang="ko-KR" altLang="en-US" sz="1600" dirty="0"/>
              <a:t>총 분석 일수</a:t>
            </a:r>
            <a:r>
              <a:rPr lang="en-US" altLang="ko-KR" sz="1600" dirty="0"/>
              <a:t>: 88 + 21 + 35 + 9 = 153</a:t>
            </a:r>
            <a:r>
              <a:rPr lang="ko-KR" altLang="en-US" sz="1600" dirty="0"/>
              <a:t>일</a:t>
            </a:r>
            <a:endParaRPr lang="en-US" altLang="ko-KR" sz="1600" dirty="0"/>
          </a:p>
          <a:p>
            <a:pPr>
              <a:lnSpc>
                <a:spcPct val="100000"/>
              </a:lnSpc>
            </a:pPr>
            <a:r>
              <a:rPr lang="ko-KR" altLang="en-US" sz="1600" dirty="0"/>
              <a:t>전체 기간 중 약 </a:t>
            </a:r>
            <a:r>
              <a:rPr lang="en-US" altLang="ko-KR" sz="1600" b="1" dirty="0"/>
              <a:t>19.6%</a:t>
            </a:r>
            <a:r>
              <a:rPr lang="en-US" altLang="ko-KR" sz="1600" dirty="0"/>
              <a:t>(30</a:t>
            </a:r>
            <a:r>
              <a:rPr lang="ko-KR" altLang="en-US" sz="1600" dirty="0"/>
              <a:t>일</a:t>
            </a:r>
            <a:r>
              <a:rPr lang="en-US" altLang="ko-KR" sz="1600" dirty="0"/>
              <a:t>)</a:t>
            </a:r>
            <a:r>
              <a:rPr lang="ko-KR" altLang="en-US" sz="1600" dirty="0"/>
              <a:t>가 강수조건에 해당했습니다</a:t>
            </a:r>
            <a:r>
              <a:rPr lang="en-US" altLang="ko-KR" sz="1600" dirty="0"/>
              <a:t>. 5</a:t>
            </a:r>
            <a:r>
              <a:rPr lang="ko-KR" altLang="en-US" sz="1600" dirty="0"/>
              <a:t>일 중 </a:t>
            </a:r>
            <a:r>
              <a:rPr lang="en-US" altLang="ko-KR" sz="1600" dirty="0"/>
              <a:t>1</a:t>
            </a:r>
            <a:r>
              <a:rPr lang="ko-KR" altLang="en-US" sz="1600" dirty="0"/>
              <a:t>일 꼴로 비가 온 셈이므로</a:t>
            </a:r>
            <a:r>
              <a:rPr lang="en-US" altLang="ko-KR" sz="1600" dirty="0"/>
              <a:t>, </a:t>
            </a:r>
            <a:r>
              <a:rPr lang="ko-KR" altLang="en-US" sz="1600" dirty="0"/>
              <a:t>기상에 따른 이용 변화를 분석할 수 있었습니다</a:t>
            </a:r>
            <a:r>
              <a:rPr lang="en-US" altLang="ko-KR" sz="1600" dirty="0"/>
              <a:t>.</a:t>
            </a:r>
            <a:endParaRPr lang="en-US" altLang="ko-KR" sz="16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39094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1079</Words>
  <Application>Microsoft Office PowerPoint</Application>
  <PresentationFormat>와이드스크린</PresentationFormat>
  <Paragraphs>83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맑은 고딕</vt:lpstr>
      <vt:lpstr>Arial</vt:lpstr>
      <vt:lpstr>Wingdings</vt:lpstr>
      <vt:lpstr>Office 테마</vt:lpstr>
      <vt:lpstr>자전거의 기온 및 시간대별 이용량 변화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자전거의 기온 및 시간대별 이용량 변화</dc:title>
  <dc:creator>admin</dc:creator>
  <cp:lastModifiedBy>admin</cp:lastModifiedBy>
  <cp:revision>9</cp:revision>
  <dcterms:created xsi:type="dcterms:W3CDTF">2026-01-15T07:44:19Z</dcterms:created>
  <dcterms:modified xsi:type="dcterms:W3CDTF">2026-01-15T09:16:10Z</dcterms:modified>
</cp:coreProperties>
</file>